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 is on THIS slide specifically. State name, roll number, dataset (Kaggle Olist, secondary route) up front, calmly.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Olist is a decentralised B2C marketplace connecting thousands of independent sellers to consumers nationwide, with no in-house logistics fleet. If asked "why secondary, not primary": time constraints; this dataset gives a large, real, multi-year transactional dataset a small primary collection effort could not match in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objectives structure everything that follows -- refer back to "Objective 1/2/3" by number when presenting later results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UCI-vs-Kaggle answer lives on this slide -- read it almost verbatim if asked directly, the one guaranteed secondary-route question. Methods: EDA first (Tukey 1977), then trend, then RFM clustering, then regression -- in that order because each stage justifies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"problems faced / how resolved" answer -- have 160/1,783/2,965 and 103,886-vs-99,441 and 96,470 on the tip of your tongue. Missing values are structural (cancelled/undelivered orders), not random -- imputing would fabricate outcomes that never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1: dual-axis, bars=count, line=revenue, two scales one time axis. Figure 2/3: lollipop for ranked categories, less ink than a bar. Figure 4: pie only because payment_type is a composition question, not a ranked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5 is the single most important chart in the whole project -- the review-score-vs-timing bar. Figure 6 dual-colour histogram because the question is about two sub-populations (early vs late), not one distribution. Figure 7: linear trend chosen over ARIMA/Prophet from the proposal because it was sufficient to quantify growth for this scope -- ARIMA/Prophet is the natural next step, say this plainly if asked why you deviated from the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9 is NOT a correlation plot -- it is cluster visualization across two RFM dimensions, colour = cluster membership. If pushed: "I was visualizing cluster membership, not testing correlation; I can compute Pearson r as a side calculation." Elbow (Figure 8) justifies k=4. RFM standardised via z-score so Monetary (thousands of BRL) does not swamp Frequency (1-20) in the K-Means distance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12 correlation IS meaningful: r-squared relates directly to R2=0.026 -- weak positive relationship, consistent with the loose scatter around the diagonal. Standard deviation fact if asked generally: payment_value mean=160.99, SD=221.95 -- SD greater than mean because the distribution is heavily right-skewed. Outlier fallback: "kept intentionally -- a BRL 13,664 order is a real high-value sale, not a data error; capping delay_days would be a next step for regression stability." IQR-capping code if pushed: Q1,Q3=df[col].quantile([.25,.75]); IQR=Q3-Q1; lower,upper=Q1-1.5*IQR,Q3+1.5*IQR.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AI-usage question: answer plainly and once -- "yes, I used AI assistance for parts of the code and drafting, and I can explain and rebuild any piece of it live." Every recommendation number has a stated conversion-rate ASSUMPTION -- say so upfront if asked "is this mathematical." If asked "what would you tell the business owner tomorrow morning": recalibrate delivery windows first (policy not tech, highest leverage), then the 14-day re-engagement email (94.4% one-time buyers), then brief the SP logistics team on hub congestion.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8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6A64F"/>
          </a:solidFill>
          <a:ln/>
        </p:spPr>
        <p:txBody>
          <a:bodyPr/>
          <a:p/>
        </p:txBody>
      </p:sp>
      <p:pic>
        <p:nvPicPr>
          <p:cNvPr id="3" name="Image 0" descr="/home/claude/assets/iit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457200"/>
            <a:ext cx="1417320" cy="1417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12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 AND REVENUE OPTIMIZATION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A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 E-Commerce Marketplace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337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BDM Capstone Project  ·  Final Viva Presentation  ·  Secondary Data Route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937760" y="3913632"/>
            <a:ext cx="2286000" cy="0"/>
          </a:xfrm>
          <a:prstGeom prst="line">
            <a:avLst/>
          </a:prstGeom>
          <a:noFill/>
          <a:ln w="12700">
            <a:solidFill>
              <a:srgbClr val="D6A64F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Nishika Chapra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23F3000862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23f3000862@ds.study.iitm.ac.in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Olist Brazilian E-Commerce Public Dataset (Kaggle)  ·  99,441 orders  ·  9 relational tables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61722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Online BS Degree Programme  ·  Indian Institute of Technology, Madras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118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Background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778000" y="6446520"/>
            <a:ext cx="118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007360" y="6446520"/>
            <a:ext cx="118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236720" y="6446520"/>
            <a:ext cx="118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466080" y="6446520"/>
            <a:ext cx="118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695440" y="6446520"/>
            <a:ext cx="118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924800" y="6446520"/>
            <a:ext cx="118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154160" y="6446520"/>
            <a:ext cx="118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0383520" y="6446520"/>
            <a:ext cx="118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97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BACKGROUND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— Brazil’s B2C Marketplace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3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marketplace — thousands of independent sellers, one platform</a:t>
            </a:r>
            <a:endParaRPr lang="en-US" sz="13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3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does not sell directly — facilitates listings + logistics support</a:t>
            </a:r>
            <a:endParaRPr lang="en-US" sz="13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3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list products; customers browse, buy, review</a:t>
            </a:r>
            <a:endParaRPr lang="en-US" sz="13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3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earns a commission per transaction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379476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3959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43799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Processed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51960" y="379476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51960" y="3959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51960" y="43799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States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01000" y="379476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01000" y="3959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01000" y="43799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Sellers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52578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5422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~96,000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5843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51960" y="52578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251960" y="5422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51960" y="5843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01000" y="52578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01000" y="5422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01000" y="5843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(Sep ’16–Oct ’18)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3796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781F1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1228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A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ANALYST’S BRIEF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12280" y="20574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2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in-house logistics fleet — relies on partner carriers</a:t>
            </a:r>
            <a:endParaRPr lang="en-US" sz="120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2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demand, delivery, and customers as unknowns</a:t>
            </a:r>
            <a:endParaRPr lang="en-US" sz="120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2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Brought in to turn transaction data into decisions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Online BS Degree Programme  |  Nishika Chapra (23F3000862)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97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Objectives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5528" y="1920240"/>
            <a:ext cx="621792" cy="621792"/>
          </a:xfrm>
          <a:prstGeom prst="ellipse">
            <a:avLst/>
          </a:prstGeom>
          <a:solidFill>
            <a:srgbClr val="781F1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A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Unpredictable Demand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swings month to month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seller planning suffers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quantify the pattern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90288" y="1920240"/>
            <a:ext cx="621792" cy="621792"/>
          </a:xfrm>
          <a:prstGeom prst="ellipse">
            <a:avLst/>
          </a:prstGeom>
          <a:solidFill>
            <a:srgbClr val="781F1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0288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A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Delays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orders hurt satisfaction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unknown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find what drives delay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64592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85048" y="1920240"/>
            <a:ext cx="621792" cy="621792"/>
          </a:xfrm>
          <a:prstGeom prst="ellipse">
            <a:avLst/>
          </a:prstGeom>
          <a:solidFill>
            <a:srgbClr val="781F1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85048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A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Segmentation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33375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treated the same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vs. one-time — unknown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data-driven segments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Online BS Degree Programme  |  Nishika Chapra (23F3000862)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97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Tables, Four Methods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8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— status, purchase/delivery timestamps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 — price, freight, product, seller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order_payments — method + value, instalments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order_reviews — 1–5 star rating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sellers — IDs + state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+ category translation table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— zip coordinates (not used in this analysis)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481328"/>
            <a:ext cx="18288" cy="4297680"/>
          </a:xfrm>
          <a:prstGeom prst="rect">
            <a:avLst/>
          </a:prstGeom>
          <a:solidFill>
            <a:srgbClr val="EBE2D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0" y="14813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8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8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0" y="2121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Tukey’s principle — explore before modelling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8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Time-Series Trend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2898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fit — quantifies growth 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8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RFM + K-Means (k=4)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3675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standardised, elbow-validated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8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Multiple Regression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interpretable delay drivers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89204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781F1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50109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6A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KAGGLE, NOT UCI?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28523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large-scale dataset covering full order lifecycle: purchase → delivery → review</a:t>
            </a:r>
            <a:endParaRPr lang="en-US" sz="110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coherent source supports all 3 objectives — demand, delay, segmentation</a:t>
            </a:r>
            <a:endParaRPr lang="en-US" sz="110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were smaller, synthetic, or missing delivery timestamps/reviews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Online BS Degree Programme  |  Nishika Chapra (23F3000862)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97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Values, Joins, and the Impact of Each Fix</a:t>
            </a:r>
            <a:endParaRPr lang="en-US" sz="2500" dirty="0"/>
          </a:p>
        </p:txBody>
      </p:sp>
      <p:pic>
        <p:nvPicPr>
          <p:cNvPr id="4" name="Image 0" descr="/home/claude/assets/fig_mis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5577840" cy="3063240"/>
          </a:xfrm>
          <a:prstGeom prst="rect">
            <a:avLst/>
          </a:prstGeom>
        </p:spPr>
      </p:pic>
      <p:pic>
        <p:nvPicPr>
          <p:cNvPr id="5" name="Image 1" descr="/home/claude/assets/fig_fu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577840" cy="3063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45720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timestamps = structural (order never delivered) — excluded, not imputed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Payments: 103,886 rows → grouped + summed → 99,441 one-row-per-order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172200" y="45720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→ customer_unique_id for RFM — avoids duplicate identity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set: 96,470 clean rows after dropping incomplete joins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65760" y="5669280"/>
            <a:ext cx="11384280" cy="621792"/>
          </a:xfrm>
          <a:prstGeom prst="roundRect">
            <a:avLst>
              <a:gd name="adj" fmla="val 7353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48640" y="574243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78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IT MADE:  Imputing missing delivery dates would have fabricated ~2,965 outcomes; excluding them instead keeps every delay figure in this deck 100% real.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Online BS Degree Programme  |  Nishika Chapra (23F3000862)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97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1 OF 4 · FIGURES 1–4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 — Demand &amp; Behaviour</a:t>
            </a:r>
            <a:endParaRPr lang="en-US" sz="2500" dirty="0"/>
          </a:p>
        </p:txBody>
      </p:sp>
      <p:pic>
        <p:nvPicPr>
          <p:cNvPr id="4" name="Image 0" descr="/home/claude/assets/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5349240" cy="2103120"/>
          </a:xfrm>
          <a:prstGeom prst="rect">
            <a:avLst/>
          </a:prstGeom>
        </p:spPr>
      </p:pic>
      <p:pic>
        <p:nvPicPr>
          <p:cNvPr id="5" name="Image 1" descr="/home/claude/assets/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17320"/>
            <a:ext cx="5715000" cy="2103120"/>
          </a:xfrm>
          <a:prstGeom prst="rect">
            <a:avLst/>
          </a:prstGeom>
        </p:spPr>
      </p:pic>
      <p:pic>
        <p:nvPicPr>
          <p:cNvPr id="6" name="Image 2" descr="/home/claude/assets/fi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22192"/>
            <a:ext cx="5349240" cy="2103120"/>
          </a:xfrm>
          <a:prstGeom prst="rect">
            <a:avLst/>
          </a:prstGeom>
        </p:spPr>
      </p:pic>
      <p:pic>
        <p:nvPicPr>
          <p:cNvPr id="7" name="Image 3" descr="/home/claude/assets/fig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822192"/>
            <a:ext cx="5715000" cy="210312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11480" y="35204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9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 2017–18, sharp November (Black Friday) spike</a:t>
            </a:r>
            <a:endParaRPr lang="en-US" sz="950" dirty="0"/>
          </a:p>
        </p:txBody>
      </p:sp>
      <p:sp>
        <p:nvSpPr>
          <p:cNvPr id="9" name="Text 3"/>
          <p:cNvSpPr/>
          <p:nvPr/>
        </p:nvSpPr>
        <p:spPr>
          <a:xfrm>
            <a:off x="5989320" y="352044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9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busiest (~16,196 orders), tapers to weekend</a:t>
            </a:r>
            <a:endParaRPr lang="en-US" sz="950" dirty="0"/>
          </a:p>
        </p:txBody>
      </p:sp>
      <p:sp>
        <p:nvSpPr>
          <p:cNvPr id="10" name="Text 4"/>
          <p:cNvSpPr/>
          <p:nvPr/>
        </p:nvSpPr>
        <p:spPr>
          <a:xfrm>
            <a:off x="411480" y="59253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9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leads; top 10 = ~63% of revenue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5989320" y="592531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9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= 73.9% — cheapest campaign audience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Online BS Degree Programme  |  Nishika Chapra (23F3000862)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97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2 OF 4 · FIGURES 5–7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Timing, Satisfaction &amp; Growth</a:t>
            </a:r>
            <a:endParaRPr lang="en-US" sz="2500" dirty="0"/>
          </a:p>
        </p:txBody>
      </p:sp>
      <p:pic>
        <p:nvPicPr>
          <p:cNvPr id="4" name="Image 0" descr="/home/claude/assets/fig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3840480" cy="1947672"/>
          </a:xfrm>
          <a:prstGeom prst="rect">
            <a:avLst/>
          </a:prstGeom>
        </p:spPr>
      </p:pic>
      <p:pic>
        <p:nvPicPr>
          <p:cNvPr id="5" name="Image 1" descr="/home/claude/assets/fig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17320"/>
            <a:ext cx="3840480" cy="1947672"/>
          </a:xfrm>
          <a:prstGeom prst="rect">
            <a:avLst/>
          </a:prstGeom>
        </p:spPr>
      </p:pic>
      <p:pic>
        <p:nvPicPr>
          <p:cNvPr id="6" name="Image 2" descr="/home/claude/assets/fig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417320"/>
            <a:ext cx="3520440" cy="20665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352044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score: 4.31 (very early) → 1.73 (very late) — near-monotonic drop</a:t>
            </a:r>
            <a:endParaRPr lang="en-US" sz="10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variable moves satisfaction this much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4526280" y="35204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 deliveries arrive early (avg +13.51 days)</a:t>
            </a:r>
            <a:endParaRPr lang="en-US" sz="10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6.8% late — but overrun averages 10.62 days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8321040" y="35204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trend: +307 orders/month</a:t>
            </a:r>
            <a:endParaRPr lang="en-US" sz="10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flat at ~BRL 161 — growth is volume-driven, not order-size-driven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365760" y="4617720"/>
            <a:ext cx="11475720" cy="1600200"/>
          </a:xfrm>
          <a:prstGeom prst="roundRect">
            <a:avLst>
              <a:gd name="adj" fmla="val 2857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11" name="Text 6"/>
          <p:cNvSpPr/>
          <p:nvPr/>
        </p:nvSpPr>
        <p:spPr>
          <a:xfrm>
            <a:off x="594360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8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94360" y="50292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timing is the single biggest lever on customer happiness — answers Objective 2 directly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Delivery-window recalibration is the highest-leverage recommendation in this project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demand spike is predictable — give sellers 8 weeks’ notice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Online BS Degree Programme  |  Nishika Chapra (23F3000862)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97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3 OF 4 · FIGURES 8–10, TABLE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— RFM + K-Means</a:t>
            </a:r>
            <a:endParaRPr lang="en-US" sz="2500" dirty="0"/>
          </a:p>
        </p:txBody>
      </p:sp>
      <p:pic>
        <p:nvPicPr>
          <p:cNvPr id="4" name="Image 0" descr="/home/claude/assets/fig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3749040" cy="2139696"/>
          </a:xfrm>
          <a:prstGeom prst="rect">
            <a:avLst/>
          </a:prstGeom>
        </p:spPr>
      </p:pic>
      <p:pic>
        <p:nvPicPr>
          <p:cNvPr id="5" name="Image 1" descr="/home/claude/assets/fig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17320"/>
            <a:ext cx="4114800" cy="2322576"/>
          </a:xfrm>
          <a:prstGeom prst="rect">
            <a:avLst/>
          </a:prstGeom>
        </p:spPr>
      </p:pic>
      <p:pic>
        <p:nvPicPr>
          <p:cNvPr id="6" name="Image 2" descr="/home/claude/assets/fig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429000" cy="14630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3108960"/>
          <a:ext cx="3429000" cy="1691640"/>
        </p:xfrm>
        <a:graphic>
          <a:graphicData uri="http://schemas.openxmlformats.org/drawingml/2006/table">
            <a:tbl>
              <a:tblPr/>
              <a:tblGrid>
                <a:gridCol w="1691640"/>
                <a:gridCol w="822960"/>
                <a:gridCol w="9144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1F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1F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1F1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High-Value Champions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New/Recent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/>
          <p:nvPr/>
        </p:nvSpPr>
        <p:spPr>
          <a:xfrm>
            <a:off x="36576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bends at k=4 — optimal cluster count</a:t>
            </a:r>
            <a:endParaRPr lang="en-US" sz="1000" dirty="0"/>
          </a:p>
        </p:txBody>
      </p:sp>
      <p:sp>
        <p:nvSpPr>
          <p:cNvPr id="9" name="Text 3"/>
          <p:cNvSpPr/>
          <p:nvPr/>
        </p:nvSpPr>
        <p:spPr>
          <a:xfrm>
            <a:off x="420624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clusters, colour-separated by RFM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365760" y="4114800"/>
            <a:ext cx="7818120" cy="2194560"/>
          </a:xfrm>
          <a:prstGeom prst="roundRect">
            <a:avLst>
              <a:gd name="adj" fmla="val 2083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11" name="Text 5"/>
          <p:cNvSpPr/>
          <p:nvPr/>
        </p:nvSpPr>
        <p:spPr>
          <a:xfrm>
            <a:off x="594360" y="4251960"/>
            <a:ext cx="7406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 of customers are essentially one-time buyers — headline insight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Champions spend ~7× the platform average per order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10% of Champions = real revenue hit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(2,772) proves repeat purchase is achievable, just rare</a:t>
            </a:r>
            <a:endParaRPr lang="en-US" sz="11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1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directly answers Objective 3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Online BS Degree Programme  |  Nishika Chapra (23F3000862)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97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4 OF 4 · FIGURES 11–12, EQUATION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81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— What Drives Delivery Delay</a:t>
            </a:r>
            <a:endParaRPr lang="en-US" sz="2500" dirty="0"/>
          </a:p>
        </p:txBody>
      </p:sp>
      <p:pic>
        <p:nvPicPr>
          <p:cNvPr id="4" name="Image 0" descr="/home/claude/assets/fig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6263640" cy="3346704"/>
          </a:xfrm>
          <a:prstGeom prst="rect">
            <a:avLst/>
          </a:prstGeom>
        </p:spPr>
      </p:pic>
      <p:pic>
        <p:nvPicPr>
          <p:cNvPr id="5" name="Image 1" descr="/home/claude/assets/fig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17320"/>
            <a:ext cx="452628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4892040"/>
            <a:ext cx="6263640" cy="1371600"/>
          </a:xfrm>
          <a:prstGeom prst="roundRect">
            <a:avLst>
              <a:gd name="adj" fmla="val 3333"/>
            </a:avLst>
          </a:prstGeom>
          <a:solidFill>
            <a:srgbClr val="FBF8F3"/>
          </a:solidFill>
          <a:ln w="12700">
            <a:solidFill>
              <a:srgbClr val="EBE2D3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548640" y="50109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8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SURPRISES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25780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São Paulo → +2.02 days — hub congestion beats geography</a:t>
            </a:r>
            <a:endParaRPr lang="en-US" sz="10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Same-state → +1.93 days — also a routing artifact, not distance</a:t>
            </a:r>
            <a:endParaRPr lang="en-US" sz="10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5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count → −0.58 days — multi-item orders are batched, faster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812280" y="5257800"/>
            <a:ext cx="4526280" cy="1005840"/>
          </a:xfrm>
          <a:prstGeom prst="roundRect">
            <a:avLst>
              <a:gd name="adj" fmla="val 4545"/>
            </a:avLst>
          </a:prstGeom>
          <a:solidFill>
            <a:srgbClr val="781F19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6995160" y="53766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0.026 — honest limitation, not hidden</a:t>
            </a:r>
            <a:endParaRPr lang="en-US" sz="105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5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carrier-level routing data in this secondary dataset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Online BS Degree Programme  |  Nishika Chapra (23F3000862)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8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D6A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Quantified Actions, Honest Limits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8872" cy="118872"/>
          </a:xfrm>
          <a:prstGeom prst="ellipse">
            <a:avLst/>
          </a:prstGeom>
          <a:solidFill>
            <a:srgbClr val="D6A6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115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delivery windows + decongest São Paulo 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43560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≈2,434 orders late → on-time (6.8% → 4.0–4.5%)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118872" cy="118872"/>
          </a:xfrm>
          <a:prstGeom prst="ellipse">
            <a:avLst/>
          </a:prstGeom>
          <a:solidFill>
            <a:srgbClr val="D6A64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17739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re-engagement, target 73.9% credit-card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09397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50,642 × 8% conv ≈ BRL 652,230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596896"/>
            <a:ext cx="118872" cy="118872"/>
          </a:xfrm>
          <a:prstGeom prst="ellipse">
            <a:avLst/>
          </a:prstGeom>
          <a:solidFill>
            <a:srgbClr val="D6A64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323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programme for High-Value Champions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7523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2,418 × 10% risk × BRL 1,161 = BRL 280,708 protected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255264"/>
            <a:ext cx="118872" cy="118872"/>
          </a:xfrm>
          <a:prstGeom prst="ellipse">
            <a:avLst/>
          </a:prstGeom>
          <a:solidFill>
            <a:srgbClr val="D6A64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30906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seller notice before November spike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4107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37,526 Dormant × 5% win-back ≈ BRL 302,066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1234440"/>
            <a:ext cx="18288" cy="2743200"/>
          </a:xfrm>
          <a:prstGeom prst="rect">
            <a:avLst/>
          </a:prstGeom>
          <a:solidFill>
            <a:srgbClr val="9C4B4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66760" y="12344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A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66760" y="1536192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carrier-level data — R² capped at 0.026</a:t>
            </a:r>
            <a:endParaRPr lang="en-US" sz="100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predates post-pandemic shifts</a:t>
            </a:r>
            <a:endParaRPr lang="en-US" sz="100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product_weight_g not joinable at order level</a:t>
            </a:r>
            <a:endParaRPr lang="en-US" sz="100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One-time-buyer rate may be a dataset artifact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11155680" cy="18288"/>
          </a:xfrm>
          <a:prstGeom prst="rect">
            <a:avLst/>
          </a:prstGeom>
          <a:solidFill>
            <a:srgbClr val="9C4B4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" y="42793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A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5720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2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buyers = primary growth lever</a:t>
            </a:r>
            <a:endParaRPr lang="en-US" sz="1200" dirty="0"/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2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ARIMA/Prophet forecast + carrier-level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760720"/>
            <a:ext cx="11155680" cy="18288"/>
          </a:xfrm>
          <a:prstGeom prst="rect">
            <a:avLst/>
          </a:prstGeom>
          <a:solidFill>
            <a:srgbClr val="9C4B4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59253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Nishika Chapra  ·  23F3000862  ·  23f3000862@ds.study.iitm.ac.in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2026-08-15T02:56:56Z</dcterms:created>
  <dcterms:modified xsi:type="dcterms:W3CDTF">2026-08-15T02:56:56Z</dcterms:modified>
</cp:coreProperties>
</file>